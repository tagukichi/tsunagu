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納品用マニュアル。スクリーンショットは各スライドの点線枠に差し替えてください。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9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200400"/>
            <a:ext cx="4754880" cy="4754880"/>
          </a:xfrm>
          <a:prstGeom prst="ellipse">
            <a:avLst/>
          </a:prstGeom>
          <a:solidFill>
            <a:srgbClr val="17356F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4206240"/>
            <a:ext cx="2743200" cy="2743200"/>
          </a:xfrm>
          <a:prstGeom prst="ellipse">
            <a:avLst/>
          </a:prstGeom>
          <a:solidFill>
            <a:srgbClr val="1D4287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00200"/>
            <a:ext cx="2514600" cy="384048"/>
          </a:xfrm>
          <a:prstGeom prst="roundRect">
            <a:avLst>
              <a:gd name="adj" fmla="val 47619"/>
            </a:avLst>
          </a:prstGeom>
          <a:solidFill>
            <a:srgbClr val="1F6FE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0020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会員限定ポータルサイト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8229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つなぐ依頼ページ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07238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運用マニュアル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0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 管理者向け  ｜  ログイン・コンテンツ修正・フォーム・ユーザー登録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4956048"/>
            <a:ext cx="457200" cy="27432"/>
          </a:xfrm>
          <a:prstGeom prst="rect">
            <a:avLst/>
          </a:prstGeom>
          <a:solidFill>
            <a:srgbClr val="1F6FE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513892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9B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発行日：____年__月__日 ／ 版数：1.0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このマニュアルの内容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管理画面での基本操作をまとめています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73936"/>
            <a:ext cx="530352" cy="530352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7393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27632" y="17190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WordPressへのログイン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管理画面に入る方法と、2種類のログインの違い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88336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889504"/>
            <a:ext cx="530352" cy="530352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895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27632" y="2834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コンテンツの修正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27632" y="31729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固定ページのカスタムフィールドで文言・リンクを変更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03904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005072"/>
            <a:ext cx="530352" cy="530352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05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27632" y="3950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フォームについて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27632" y="428853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入力〜送信の流れ、宛先メールや文言の変更場所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919472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120640"/>
            <a:ext cx="530352" cy="530352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120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627632" y="50657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新規ユーザーの登録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27632" y="540410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会員アカウントの作り方（会社名の入力は必須）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サイトの全体像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ログインした会員だけが閲覧できる構成です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EAF3FF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会員がID・パスワードを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入力する画面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3360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709160" y="1783080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2011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TOPページ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4688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CEA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依頼メニュー6つと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CEA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おすすめツールを掲載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41080" y="1783080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EAF3FF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41080" y="2011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フォームページ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823960" y="24688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依頼内容を入力して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送信する画面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3794760"/>
            <a:ext cx="10634472" cy="1207008"/>
          </a:xfrm>
          <a:prstGeom prst="roundRect">
            <a:avLst>
              <a:gd name="adj" fmla="val 4545"/>
            </a:avLst>
          </a:prstGeom>
          <a:solidFill>
            <a:srgbClr val="FDF3DC"/>
          </a:solidFill>
          <a:ln w="12700">
            <a:solidFill>
              <a:srgbClr val="EBD3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6696" y="4014216"/>
            <a:ext cx="310896" cy="310896"/>
          </a:xfrm>
          <a:prstGeom prst="ellipse">
            <a:avLst/>
          </a:prstGeom>
          <a:solidFill>
            <a:srgbClr val="C98A16"/>
          </a:solidFill>
          <a:ln/>
        </p:spPr>
      </p:sp>
      <p:sp>
        <p:nvSpPr>
          <p:cNvPr id="17" name="Text 15"/>
          <p:cNvSpPr/>
          <p:nvPr/>
        </p:nvSpPr>
        <p:spPr>
          <a:xfrm>
            <a:off x="996696" y="4014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3977640"/>
            <a:ext cx="9765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ログインしていない人はサイトを見られません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306824"/>
            <a:ext cx="9765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ログインせずにページを開こうとすると、自動的にログイン画面に移動します。会員登録（ユーザーの追加）は管理者が行います（→ 4章）。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175504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管理画面（WordPress）は、この会員用ログインとは別の入口から入ります（→ 1章）。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29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12848"/>
            <a:ext cx="1051560" cy="105156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12848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240280" y="2286000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WordPressへのログイン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240280" y="29626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9FC0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LOGIN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464040" y="2286000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22128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ログイン手順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464040" y="2852928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0" y="27797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管理画面の見方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464040" y="3419856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784080" y="33467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2つのログインの違い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WordPressにログインする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管理画面から、サイトの内容を編集します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16152" y="1572768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ログインページを開く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216152" y="1856232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アドレス欄に「サイトのURL + /wp-admin」と入力します。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例：https://（サイトURL）/wp-admin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2651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16152" y="2624328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ユーザー名とパスワードを入力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16152" y="2907792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管理者用のユーザー名（またはメールアドレス）と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パスワードを入力します。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70332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16152" y="3675888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「ログイン」をクリック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216152" y="3959352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ダッシュボード（管理画面のトップ）が表示されれば完了です。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525780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508492" y="2724912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54796" y="2825496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21" name="Shape 19"/>
          <p:cNvSpPr/>
          <p:nvPr/>
        </p:nvSpPr>
        <p:spPr>
          <a:xfrm>
            <a:off x="8782812" y="2926080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22" name="Text 20"/>
          <p:cNvSpPr/>
          <p:nvPr/>
        </p:nvSpPr>
        <p:spPr>
          <a:xfrm>
            <a:off x="6263640" y="334670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360273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WordPressのログイン画面のスクリーンショット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" y="4956048"/>
            <a:ext cx="10835640" cy="960120"/>
          </a:xfrm>
          <a:prstGeom prst="roundRect">
            <a:avLst>
              <a:gd name="adj" fmla="val 5714"/>
            </a:avLst>
          </a:prstGeom>
          <a:solidFill>
            <a:srgbClr val="FDF3DC"/>
          </a:solidFill>
          <a:ln w="12700">
            <a:solidFill>
              <a:srgbClr val="EBD3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5256" y="5175504"/>
            <a:ext cx="310896" cy="310896"/>
          </a:xfrm>
          <a:prstGeom prst="ellipse">
            <a:avLst/>
          </a:prstGeom>
          <a:solidFill>
            <a:srgbClr val="C98A16"/>
          </a:solidFill>
          <a:ln/>
        </p:spPr>
      </p:sp>
      <p:sp>
        <p:nvSpPr>
          <p:cNvPr id="26" name="Text 24"/>
          <p:cNvSpPr/>
          <p:nvPr/>
        </p:nvSpPr>
        <p:spPr>
          <a:xfrm>
            <a:off x="905256" y="5175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25880" y="5138928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パスワードを忘れた場合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25880" y="5468112"/>
            <a:ext cx="9966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ログイン画面の「パスワードをお忘れですか？」から、登録メールアドレス宛に再設定用のメールを送れます。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管理画面の見方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よく使うメニューは左側にまとまっています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603504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319272" y="3113532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65576" y="3214116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9" name="Shape 7"/>
          <p:cNvSpPr/>
          <p:nvPr/>
        </p:nvSpPr>
        <p:spPr>
          <a:xfrm>
            <a:off x="3593592" y="3314700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73532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9135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管理画面（ダッシュボード）のスクリーンショット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※左メニューが写るように撮影してください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040880" y="16002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よく使うメニュー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040880" y="2011680"/>
            <a:ext cx="4498848" cy="475488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05472" y="20116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0536" y="201168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文言・リンクの修正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205472" y="24871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お問い合わせ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0536" y="248716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フォームの設定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040880" y="2962656"/>
            <a:ext cx="4498848" cy="475488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05472" y="29626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60536" y="2962656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会員の追加・削除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205472" y="343814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メディア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0536" y="3438144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画像・PDFの登録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040880" y="3913632"/>
            <a:ext cx="4498848" cy="475488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05472" y="391363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860536" y="391363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テーマの管理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040880" y="4572000"/>
            <a:ext cx="4498848" cy="1005840"/>
          </a:xfrm>
          <a:prstGeom prst="roundRect">
            <a:avLst>
              <a:gd name="adj" fmla="val 5455"/>
            </a:avLst>
          </a:prstGeom>
          <a:solidFill>
            <a:srgbClr val="FDF3DC"/>
          </a:solidFill>
          <a:ln w="12700">
            <a:solidFill>
              <a:srgbClr val="EBD3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60336" y="4791456"/>
            <a:ext cx="310896" cy="310896"/>
          </a:xfrm>
          <a:prstGeom prst="ellipse">
            <a:avLst/>
          </a:prstGeom>
          <a:solidFill>
            <a:srgbClr val="C98A16"/>
          </a:solidFill>
          <a:ln/>
        </p:spPr>
      </p:sp>
      <p:sp>
        <p:nvSpPr>
          <p:cNvPr id="28" name="Text 26"/>
          <p:cNvSpPr/>
          <p:nvPr/>
        </p:nvSpPr>
        <p:spPr>
          <a:xfrm>
            <a:off x="7260336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680960" y="4754880"/>
            <a:ext cx="3630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編集後は必ず保存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680960" y="5084064"/>
            <a:ext cx="3630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各画面の「更新」「保存」ボタンを押すまで、変更は反映されません。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【重要】2種類のログインがあります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入口と目的が違うので、混同しないようご注意ください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5212080" cy="3017520"/>
          </a:xfrm>
          <a:prstGeom prst="roundRect">
            <a:avLst>
              <a:gd name="adj" fmla="val 2424"/>
            </a:avLst>
          </a:prstGeom>
          <a:solidFill>
            <a:srgbClr val="EAF3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19019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F6FE0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90195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会員の方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8408" y="2340864"/>
            <a:ext cx="4626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会員用ログイン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78408" y="2743200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サイトを閲覧するための入口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78408" y="315468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・URL：サイトのトップ（/login など）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355701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・対象：つなぐ登録会社の皆さま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8408" y="395935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・できること：依頼ページの閲覧・依頼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1645920"/>
            <a:ext cx="5212080" cy="3017520"/>
          </a:xfrm>
          <a:prstGeom prst="roundRect">
            <a:avLst>
              <a:gd name="adj" fmla="val 2424"/>
            </a:avLst>
          </a:prstGeom>
          <a:solidFill>
            <a:srgbClr val="F3F7FC"/>
          </a:solidFill>
          <a:ln w="19050">
            <a:solidFill>
              <a:srgbClr val="E4EA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01968" y="19019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1295A"/>
          </a:solidFill>
          <a:ln/>
        </p:spPr>
      </p:sp>
      <p:sp>
        <p:nvSpPr>
          <p:cNvPr id="16" name="Text 14"/>
          <p:cNvSpPr/>
          <p:nvPr/>
        </p:nvSpPr>
        <p:spPr>
          <a:xfrm>
            <a:off x="6601968" y="190195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管理者の方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01968" y="2340864"/>
            <a:ext cx="4626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管理画面ログイン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01968" y="2743200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サイトを編集するための入口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01968" y="315468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・URL：サイトのURL + /wp-admin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01968" y="355701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・対象：管理者（貴社ご担当者）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01968" y="395935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・できること：文言修正・ユーザー追加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4892040"/>
            <a:ext cx="10835640" cy="960120"/>
          </a:xfrm>
          <a:prstGeom prst="roundRect">
            <a:avLst>
              <a:gd name="adj" fmla="val 5714"/>
            </a:avLst>
          </a:prstGeom>
          <a:solidFill>
            <a:srgbClr val="FDF3DC"/>
          </a:solidFill>
          <a:ln w="12700">
            <a:solidFill>
              <a:srgbClr val="EBD3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5256" y="5111496"/>
            <a:ext cx="310896" cy="310896"/>
          </a:xfrm>
          <a:prstGeom prst="ellipse">
            <a:avLst/>
          </a:prstGeom>
          <a:solidFill>
            <a:srgbClr val="C98A16"/>
          </a:solidFill>
          <a:ln/>
        </p:spPr>
      </p:sp>
      <p:sp>
        <p:nvSpPr>
          <p:cNvPr id="24" name="Text 22"/>
          <p:cNvSpPr/>
          <p:nvPr/>
        </p:nvSpPr>
        <p:spPr>
          <a:xfrm>
            <a:off x="905256" y="5111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25880" y="507492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このマニュアルで説明するのは「管理画面ログイン」です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25880" y="5404104"/>
            <a:ext cx="9966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会員の方がログインできない場合は、管理画面の「ユーザー」からアカウントの有無・メールアドレスをご確認ください。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29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12848"/>
            <a:ext cx="1051560" cy="105156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12848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240280" y="2286000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コンテンツの修正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240280" y="29626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9FC0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EDIT CONTENT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464040" y="2286000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22128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基本の流れ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464040" y="2852928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0" y="27797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編集できる項目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464040" y="3419856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784080" y="33467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よくある修正例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コンテンツ修正の基本の流れ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ページの文言やリンクは「カスタムフィールド」で変更します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4EA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" y="1874520"/>
            <a:ext cx="420624" cy="420624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41832" y="237744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固定ページを開く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41832" y="29260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 →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「固定ページ」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72968" y="237744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20440" y="164592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4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76472" y="1874520"/>
            <a:ext cx="420624" cy="420624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14" name="Text 12"/>
          <p:cNvSpPr/>
          <p:nvPr/>
        </p:nvSpPr>
        <p:spPr>
          <a:xfrm>
            <a:off x="3776472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76472" y="237744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ページを選ぶ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76472" y="29260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TOPページ（依頼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ページ）を編集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07608" y="237744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55080" y="164592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4EA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11112" y="1874520"/>
            <a:ext cx="420624" cy="420624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11112" y="237744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カスタムフィールド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を修正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11112" y="29260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本文の下にある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入力欄を編集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42248" y="237744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189720" y="164592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1F6FE0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45752" y="187452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445752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445752" y="237744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「更新」を押す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445752" y="29260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CEA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サイトに反映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CEA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されます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" y="3703320"/>
            <a:ext cx="108356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719572" y="4302252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65876" y="4402836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2" name="Shape 30"/>
          <p:cNvSpPr/>
          <p:nvPr/>
        </p:nvSpPr>
        <p:spPr>
          <a:xfrm>
            <a:off x="5993892" y="4503420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924044"/>
            <a:ext cx="10835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" y="5180076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固定ページ一覧、または編集画面（カスタムフィールドが写っているもの）のスクリーンショット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どこで何が編集できるか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編集画面のタブごとに項目が分かれています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627632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816352" y="3118104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62656" y="3218688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9" name="Shape 7"/>
          <p:cNvSpPr/>
          <p:nvPr/>
        </p:nvSpPr>
        <p:spPr>
          <a:xfrm>
            <a:off x="3090672" y="3319272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7398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959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カスタムフィールドのタブ表示部分のスクリーンショット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035040" y="16276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タブと編集できる内容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35040" y="2029968"/>
            <a:ext cx="5513832" cy="475488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9632" y="202996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ヘッダー / 共通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86216" y="2029968"/>
            <a:ext cx="2798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ロゴ・上部ボタン・著作権表記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99632" y="2505456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ヒーロー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86216" y="2505456"/>
            <a:ext cx="2798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タイトル・問い合わせメール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35040" y="2980944"/>
            <a:ext cx="5513832" cy="475488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9632" y="298094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おすすめツール（調速）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86216" y="2980944"/>
            <a:ext cx="2798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ロゴ・説明文・ボタンのリンク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199632" y="3456432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カード1〜6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86216" y="3456432"/>
            <a:ext cx="2798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カードの文言・依頼先フォーム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35040" y="3931920"/>
            <a:ext cx="5513832" cy="475488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99632" y="393192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TOPIC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86216" y="3931920"/>
            <a:ext cx="2798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流れるお知らせ（1行＝1件）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35040" y="4526280"/>
            <a:ext cx="5513832" cy="1051560"/>
          </a:xfrm>
          <a:prstGeom prst="roundRect">
            <a:avLst>
              <a:gd name="adj" fmla="val 5217"/>
            </a:avLst>
          </a:prstGeom>
          <a:solidFill>
            <a:srgbClr val="FDF3DC"/>
          </a:solidFill>
          <a:ln w="12700">
            <a:solidFill>
              <a:srgbClr val="EBD3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54496" y="4745736"/>
            <a:ext cx="310896" cy="310896"/>
          </a:xfrm>
          <a:prstGeom prst="ellipse">
            <a:avLst/>
          </a:prstGeom>
          <a:solidFill>
            <a:srgbClr val="C98A16"/>
          </a:solidFill>
          <a:ln/>
        </p:spPr>
      </p:sp>
      <p:sp>
        <p:nvSpPr>
          <p:cNvPr id="28" name="Text 26"/>
          <p:cNvSpPr/>
          <p:nvPr/>
        </p:nvSpPr>
        <p:spPr>
          <a:xfrm>
            <a:off x="6254496" y="4745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675120" y="4709160"/>
            <a:ext cx="4645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入力欄を空にすると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75120" y="5038344"/>
            <a:ext cx="4645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あらかじめ設定された初期の文言が表示されます。消しても崩れません。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修正例①　問い合わせ先・上部ボタン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よく変更する項目です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627632"/>
            <a:ext cx="557784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090672" y="3118104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36976" y="3218688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9" name="Shape 7"/>
          <p:cNvSpPr/>
          <p:nvPr/>
        </p:nvSpPr>
        <p:spPr>
          <a:xfrm>
            <a:off x="3364992" y="3319272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739896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9592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「ヒーロー」タブ、または「ヘッダー / 共通」タブの入力欄のスクリーンショット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0" y="1783080"/>
            <a:ext cx="4956048" cy="109728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39712" y="192938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問い合わせ先メール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39712" y="225856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「ヒーロー」タブ →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 メールアドレス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0" y="3063240"/>
            <a:ext cx="4956048" cy="109728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39712" y="320954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買付証明書・売却合意書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39712" y="353872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「ヘッダー / 共通」タブ →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Excelファイルを登録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0" y="4343400"/>
            <a:ext cx="4956048" cy="109728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448970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利用規約・ダウンロード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39712" y="481888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「ヘッダー / 共通」タブ →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リンクURLを入力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0" y="5632704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ファイルは入力欄から直接アップロードできます。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修正例②　6つのカード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ボタンの名前・リンク先・説明の内容を変更できます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627632"/>
            <a:ext cx="557784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090672" y="3118104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36976" y="3218688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9" name="Shape 7"/>
          <p:cNvSpPr/>
          <p:nvPr/>
        </p:nvSpPr>
        <p:spPr>
          <a:xfrm>
            <a:off x="3364992" y="3319272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739896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9592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「カード1」タブの入力欄のスクリーンショット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0" y="1691640"/>
            <a:ext cx="4956048" cy="475488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48272" y="1691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タグ／タイトル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906256" y="169164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カード上部の見出し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748272" y="216712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906256" y="216712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タイトル下の説明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0" y="2642616"/>
            <a:ext cx="4956048" cy="475488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48272" y="264261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左ボタン ラベル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906256" y="264261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「依頼」などの文字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748272" y="311810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フォーム1〜4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06256" y="311810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押した時に開くページ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0" y="3593592"/>
            <a:ext cx="4956048" cy="475488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48272" y="35935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右ボタン ラベル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06256" y="359359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「詳細」などの文字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748272" y="40690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ポップアップ本文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906256" y="40690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「詳細」で出る説明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0" y="4572000"/>
            <a:ext cx="4956048" cy="1143000"/>
          </a:xfrm>
          <a:prstGeom prst="roundRect">
            <a:avLst>
              <a:gd name="adj" fmla="val 4800"/>
            </a:avLst>
          </a:prstGeom>
          <a:solidFill>
            <a:srgbClr val="FDF3DC"/>
          </a:solidFill>
          <a:ln w="12700">
            <a:solidFill>
              <a:srgbClr val="EBD3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03136" y="4791456"/>
            <a:ext cx="310896" cy="310896"/>
          </a:xfrm>
          <a:prstGeom prst="ellipse">
            <a:avLst/>
          </a:prstGeom>
          <a:solidFill>
            <a:srgbClr val="C98A16"/>
          </a:solidFill>
          <a:ln/>
        </p:spPr>
      </p:sp>
      <p:sp>
        <p:nvSpPr>
          <p:cNvPr id="29" name="Text 27"/>
          <p:cNvSpPr/>
          <p:nvPr/>
        </p:nvSpPr>
        <p:spPr>
          <a:xfrm>
            <a:off x="6803136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223760" y="4754880"/>
            <a:ext cx="4087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左ボタンの動き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223760" y="5084064"/>
            <a:ext cx="40873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フォームを1つだけ設定＝直接開く／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2つ以上＝選択リストが出ます。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修正例③　TOPIC（流れるお知らせ）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カードの上を横に流れるテキストです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627632"/>
            <a:ext cx="557784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090672" y="2592324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36976" y="2692908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9" name="Shape 7"/>
          <p:cNvSpPr/>
          <p:nvPr/>
        </p:nvSpPr>
        <p:spPr>
          <a:xfrm>
            <a:off x="3364992" y="2793492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214116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47014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サイト上のTOPIC表示部分のスクリーンショット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583680" y="1627632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入力のしかた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1993392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「TOPIC」タブの入力欄に、1行につき1件を入力します。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2395728"/>
            <a:ext cx="4956048" cy="1481328"/>
          </a:xfrm>
          <a:prstGeom prst="roundRect">
            <a:avLst>
              <a:gd name="adj" fmla="val 3704"/>
            </a:avLst>
          </a:prstGeom>
          <a:solidFill>
            <a:srgbClr val="1B2A44"/>
          </a:solidFill>
          <a:ln w="12700">
            <a:solidFill>
              <a:srgbClr val="1B2A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03136" y="25603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1棟案件アパート求む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ボロ戸建て投資家に提案可能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500万円以下の案件は是非！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0" y="3931920"/>
            <a:ext cx="4956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入力例（3件）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4663440"/>
            <a:ext cx="10853928" cy="1188720"/>
          </a:xfrm>
          <a:prstGeom prst="roundRect">
            <a:avLst>
              <a:gd name="adj" fmla="val 4615"/>
            </a:avLst>
          </a:prstGeom>
          <a:solidFill>
            <a:srgbClr val="FDF3DC"/>
          </a:solidFill>
          <a:ln w="12700">
            <a:solidFill>
              <a:srgbClr val="EBD3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" y="4882896"/>
            <a:ext cx="310896" cy="310896"/>
          </a:xfrm>
          <a:prstGeom prst="ellipse">
            <a:avLst/>
          </a:prstGeom>
          <a:solidFill>
            <a:srgbClr val="C98A16"/>
          </a:solidFill>
          <a:ln/>
        </p:spPr>
      </p:sp>
      <p:sp>
        <p:nvSpPr>
          <p:cNvPr id="19" name="Text 17"/>
          <p:cNvSpPr/>
          <p:nvPr/>
        </p:nvSpPr>
        <p:spPr>
          <a:xfrm>
            <a:off x="905256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4846320"/>
            <a:ext cx="9985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件数は自由に増減できます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5175504"/>
            <a:ext cx="9985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行を増やせば表示件数が増え、すべて削除すると初期の内容が表示されます。長すぎる文章は読みにくくなるため、20文字程度を目安にしてください。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29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12848"/>
            <a:ext cx="1051560" cy="105156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12848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240280" y="2286000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フォームについて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240280" y="29626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9FC0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464040" y="2286000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22128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入力〜送信の流れ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464040" y="2852928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0" y="27797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文言・宛先の変更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464040" y="3419856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784080" y="33467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ボタンとの紐付け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フォームの流れ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会員は「入力 → 確認 → 送信」の3ステップで依頼します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E4EA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94560" y="1874520"/>
            <a:ext cx="457200" cy="457200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3957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7249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必要事項を記入し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「確認する」を押す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078224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E4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89320" y="1874520"/>
            <a:ext cx="457200" cy="457200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93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00600" y="27249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入力内容を確認し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「送信する」を押す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872984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412480" y="169164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1F6FE0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4080" y="18745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7840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0" y="23957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送信完了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95360" y="27249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CEA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お礼のメッセージが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CEA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表示されます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3611880"/>
            <a:ext cx="52578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067812" y="4256532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14116" y="4357116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26" name="Shape 24"/>
          <p:cNvSpPr/>
          <p:nvPr/>
        </p:nvSpPr>
        <p:spPr>
          <a:xfrm>
            <a:off x="3342132" y="4457700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87832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13435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フォームの入力画面のスクリーンショット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3611880"/>
            <a:ext cx="523036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540496" y="4256532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4357116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2" name="Shape 30"/>
          <p:cNvSpPr/>
          <p:nvPr/>
        </p:nvSpPr>
        <p:spPr>
          <a:xfrm>
            <a:off x="8814816" y="4457700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0" y="4878324"/>
            <a:ext cx="5230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92240" y="5134356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確認画面（入力内容の一覧）のスクリーンショット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フォームの文言・宛先を変える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編集する場所は2か所です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138928" cy="2514600"/>
          </a:xfrm>
          <a:prstGeom prst="roundRect">
            <a:avLst>
              <a:gd name="adj" fmla="val 2909"/>
            </a:avLst>
          </a:prstGeom>
          <a:solidFill>
            <a:srgbClr val="F3F7FC"/>
          </a:solidFill>
          <a:ln w="19050">
            <a:solidFill>
              <a:srgbClr val="E4E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ページ側で変えるもの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2311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編集場所：固定ページ（フォームのページ）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05840" y="26151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・ページタイトル（画面の見出し）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・フォーム上部の説明文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34198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・送信完了メッセージ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645920"/>
            <a:ext cx="5138928" cy="2514600"/>
          </a:xfrm>
          <a:prstGeom prst="roundRect">
            <a:avLst>
              <a:gd name="adj" fmla="val 2909"/>
            </a:avLst>
          </a:prstGeom>
          <a:solidFill>
            <a:srgbClr val="EAF3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フォーム側で変えるもの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22311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編集場所：左メニュー「お問い合わせ」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6151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・入力項目・項目名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・必須にするかどうか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34198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・送信先メールアドレス・本文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4343400"/>
            <a:ext cx="10625328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660136" y="4622292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06440" y="4722876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21" name="Shape 19"/>
          <p:cNvSpPr/>
          <p:nvPr/>
        </p:nvSpPr>
        <p:spPr>
          <a:xfrm>
            <a:off x="5934456" y="4823460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244084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5500116"/>
            <a:ext cx="10259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フォーム設定画面（「お問い合わせ」→ フォーム編集、またはメールタブ）のスクリーンショット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「依頼」ボタンとフォームの紐付け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カードのボタンを押した時に開くページを指定します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61872" y="1618488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フォーム用のページを用意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261872" y="1901952"/>
            <a:ext cx="4681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固定ページを新規作成し、テンプレートで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「つなぐ フォームページ」を選びます。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61872" y="2715768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フォームを設定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61872" y="2999232"/>
            <a:ext cx="4681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そのページのカスタムフィールドに、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使用するフォームを設定します。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61872" y="3813048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TOPページで紐付け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261872" y="4096512"/>
            <a:ext cx="4681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TOPページ →「カード◯」タブ →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「フォーム◯ 遷移先ページ」で選択します。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1645920"/>
            <a:ext cx="516636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554212" y="2747772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00516" y="2848356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21" name="Shape 19"/>
          <p:cNvSpPr/>
          <p:nvPr/>
        </p:nvSpPr>
        <p:spPr>
          <a:xfrm>
            <a:off x="8828532" y="2948940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3369564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362559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「カード1」タブのフォーム設定部分のスクリーンショット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" y="4956048"/>
            <a:ext cx="10808208" cy="960120"/>
          </a:xfrm>
          <a:prstGeom prst="roundRect">
            <a:avLst>
              <a:gd name="adj" fmla="val 5714"/>
            </a:avLst>
          </a:prstGeom>
          <a:solidFill>
            <a:srgbClr val="FDF3DC"/>
          </a:solidFill>
          <a:ln w="12700">
            <a:solidFill>
              <a:srgbClr val="EBD3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" y="5175504"/>
            <a:ext cx="310896" cy="310896"/>
          </a:xfrm>
          <a:prstGeom prst="ellipse">
            <a:avLst/>
          </a:prstGeom>
          <a:solidFill>
            <a:srgbClr val="C98A16"/>
          </a:solidFill>
          <a:ln/>
        </p:spPr>
      </p:sp>
      <p:sp>
        <p:nvSpPr>
          <p:cNvPr id="26" name="Text 24"/>
          <p:cNvSpPr/>
          <p:nvPr/>
        </p:nvSpPr>
        <p:spPr>
          <a:xfrm>
            <a:off x="950976" y="5175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5138928"/>
            <a:ext cx="9939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フォームを増やしたいとき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5468112"/>
            <a:ext cx="9939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1つのカードにつき最大4つまで登録できます。2つ以上登録すると、ボタンを押した時に選択リストが表示されます。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29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12848"/>
            <a:ext cx="1051560" cy="105156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12848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240280" y="2286000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新規ユーザーの登録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240280" y="29626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9FC0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ADD USER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464040" y="2286000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22128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登録の手順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464040" y="2852928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0" y="27797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会社名の入力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464040" y="3419856"/>
            <a:ext cx="182880" cy="18288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784080" y="33467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運用の注意点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新しい会員を登録する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会員アカウントは管理者が作成します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61872" y="1572768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「ユーザー」→「新規追加」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261872" y="1856232"/>
            <a:ext cx="4681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左メニューの「ユーザー」から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「新規追加」を開きます。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624328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61872" y="2596896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ユーザー名・メールを入力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61872" y="2880360"/>
            <a:ext cx="4681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ユーザー名（ログインID）と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メールアドレスを入力します。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648456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61872" y="362102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名前に会社名を入力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261872" y="3904488"/>
            <a:ext cx="4681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「姓」または「名」の欄に会社名を入れます。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（※次のページで詳しく説明します）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467258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F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61872" y="464515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権限グループを選ぶ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61872" y="4928616"/>
            <a:ext cx="4681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会員は「購読者」を選択します。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最後に「新規ユーザーを追加」を押します。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55080" y="1600200"/>
            <a:ext cx="516636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8554212" y="2953512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00516" y="3054096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25" name="Shape 23"/>
          <p:cNvSpPr/>
          <p:nvPr/>
        </p:nvSpPr>
        <p:spPr>
          <a:xfrm>
            <a:off x="8828532" y="3154680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575304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37960" y="383133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「新規ユーザーを追加」画面のスクリーンショット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31520" y="57424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パスワードは自動生成されます。「ユーザーに通知を送信」にチェックを入れると、本人にメールで通知されます。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10817352" cy="685800"/>
          </a:xfrm>
          <a:prstGeom prst="roundRect">
            <a:avLst>
              <a:gd name="adj" fmla="val 10667"/>
            </a:avLst>
          </a:prstGeom>
          <a:solidFill>
            <a:srgbClr val="C98A16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4572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【必ずお守りください】ユーザーの「名前」に会社名を入れてください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3232" y="1298448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32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誰からの依頼か判別できなくなるため、会社名の入力は必須です。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13232" y="178308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9050">
            <a:solidFill>
              <a:srgbClr val="1BA2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2011680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E6F6EA"/>
          </a:solidFill>
          <a:ln/>
        </p:spPr>
      </p:sp>
      <p:sp>
        <p:nvSpPr>
          <p:cNvPr id="7" name="Text 5"/>
          <p:cNvSpPr/>
          <p:nvPr/>
        </p:nvSpPr>
        <p:spPr>
          <a:xfrm>
            <a:off x="987552" y="20116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A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 良い例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87552" y="252374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姓：株式会社つなぐ不動産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87552" y="298094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名：山田 太郎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343814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一覧で会社名がすぐ分かる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78308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011680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0116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 避けたい例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0" y="252374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姓：山田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298094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名：太郎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343814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どの会社の方か分からない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3232" y="4251960"/>
            <a:ext cx="10808208" cy="1463040"/>
          </a:xfrm>
          <a:prstGeom prst="roundRect">
            <a:avLst>
              <a:gd name="adj" fmla="val 3750"/>
            </a:avLst>
          </a:prstGeom>
          <a:solidFill>
            <a:srgbClr val="FDF3DC"/>
          </a:solidFill>
          <a:ln w="12700">
            <a:solidFill>
              <a:srgbClr val="EBD3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2688" y="4471416"/>
            <a:ext cx="310896" cy="310896"/>
          </a:xfrm>
          <a:prstGeom prst="ellipse">
            <a:avLst/>
          </a:prstGeom>
          <a:solidFill>
            <a:srgbClr val="C98A16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4471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53312" y="4434840"/>
            <a:ext cx="9939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なぜ必要？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53312" y="4764024"/>
            <a:ext cx="99395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依頼フォームの送信や会員一覧の確認時に、担当者名だけでは「どの登録会社からの依頼か」が判断できません。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531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姓の欄に「会社名」、名の欄に「担当者名」を入れる運用をおすすめします（例：姓＝株式会社つなぐ不動産／名＝山田 太郎）。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57200" cy="457200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ユーザー運用の注意点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3856" y="9692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安全に運用するためのポイントです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6766560" cy="868680"/>
          </a:xfrm>
          <a:prstGeom prst="roundRect">
            <a:avLst>
              <a:gd name="adj" fmla="val 6316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1883664"/>
            <a:ext cx="384048" cy="384048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81328" y="1755648"/>
            <a:ext cx="585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権限は「購読者」で登録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81328" y="205740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会員には編集権限を与えないでください。管理画面を操作できてしまいます。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2670048"/>
            <a:ext cx="6766560" cy="868680"/>
          </a:xfrm>
          <a:prstGeom prst="roundRect">
            <a:avLst>
              <a:gd name="adj" fmla="val 6316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907792"/>
            <a:ext cx="384048" cy="384048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81328" y="2779776"/>
            <a:ext cx="585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退会時はユーザーを削除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81328" y="308152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「ユーザー」一覧から削除すると、その方はサイトを閲覧できなくなります。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694176"/>
            <a:ext cx="6766560" cy="868680"/>
          </a:xfrm>
          <a:prstGeom prst="roundRect">
            <a:avLst>
              <a:gd name="adj" fmla="val 6316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931920"/>
            <a:ext cx="384048" cy="384048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81328" y="3803904"/>
            <a:ext cx="585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自由登録は行わない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81328" y="410565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会員登録は管理者のみが行う設定です。設定は変更しないでください。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" y="4718304"/>
            <a:ext cx="6766560" cy="868680"/>
          </a:xfrm>
          <a:prstGeom prst="roundRect">
            <a:avLst>
              <a:gd name="adj" fmla="val 6316"/>
            </a:avLst>
          </a:prstGeom>
          <a:solidFill>
            <a:srgbClr val="F3F7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" y="4956048"/>
            <a:ext cx="384048" cy="384048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81328" y="4828032"/>
            <a:ext cx="585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9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パスワードの再発行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81328" y="5129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ログインできない場合は、ユーザー編集画面から新しいパスワードを設定できます。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63840" y="1645920"/>
            <a:ext cx="3675888" cy="3904488"/>
          </a:xfrm>
          <a:prstGeom prst="roundRect">
            <a:avLst>
              <a:gd name="adj" fmla="val 1990"/>
            </a:avLst>
          </a:prstGeom>
          <a:solidFill>
            <a:srgbClr val="FFFFFF"/>
          </a:solidFill>
          <a:ln w="19050">
            <a:solidFill>
              <a:srgbClr val="9DB8DF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9317736" y="3122676"/>
            <a:ext cx="768096" cy="566928"/>
          </a:xfrm>
          <a:prstGeom prst="roundRect">
            <a:avLst>
              <a:gd name="adj" fmla="val 8065"/>
            </a:avLst>
          </a:prstGeom>
          <a:solidFill>
            <a:srgbClr val="EAF3FF"/>
          </a:solidFill>
          <a:ln w="12700">
            <a:solidFill>
              <a:srgbClr val="9DB8D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64040" y="3223260"/>
            <a:ext cx="146304" cy="146304"/>
          </a:xfrm>
          <a:prstGeom prst="ellipse">
            <a:avLst/>
          </a:prstGeom>
          <a:solidFill>
            <a:srgbClr val="1F6FE0"/>
          </a:solidFill>
          <a:ln/>
        </p:spPr>
      </p:sp>
      <p:sp>
        <p:nvSpPr>
          <p:cNvPr id="29" name="Shape 27"/>
          <p:cNvSpPr/>
          <p:nvPr/>
        </p:nvSpPr>
        <p:spPr>
          <a:xfrm>
            <a:off x="9592056" y="3323844"/>
            <a:ext cx="420624" cy="274320"/>
          </a:xfrm>
          <a:prstGeom prst="triangle">
            <a:avLst/>
          </a:prstGeom>
          <a:solidFill>
            <a:srgbClr val="9DB8D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3744468"/>
            <a:ext cx="3675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画像を挿入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46720" y="400050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ユーザー一覧画面のスクリーンショット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29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840480"/>
            <a:ext cx="4206240" cy="4206240"/>
          </a:xfrm>
          <a:prstGeom prst="ellipse">
            <a:avLst/>
          </a:prstGeom>
          <a:solidFill>
            <a:srgbClr val="17356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10360152" cy="786384"/>
          </a:xfrm>
          <a:prstGeom prst="roundRect">
            <a:avLst>
              <a:gd name="adj" fmla="val 6977"/>
            </a:avLst>
          </a:prstGeom>
          <a:solidFill>
            <a:srgbClr val="17356F"/>
          </a:solidFill>
          <a:ln w="12700">
            <a:solidFill>
              <a:srgbClr val="2A4C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70432" y="2377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B0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237744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ログインできない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688336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C4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ログイン画面の「パスワードをお忘れですか？」から再設定できます。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3218688"/>
            <a:ext cx="10360152" cy="786384"/>
          </a:xfrm>
          <a:prstGeom prst="roundRect">
            <a:avLst>
              <a:gd name="adj" fmla="val 6977"/>
            </a:avLst>
          </a:prstGeom>
          <a:solidFill>
            <a:srgbClr val="17356F"/>
          </a:solidFill>
          <a:ln w="12700">
            <a:solidFill>
              <a:srgbClr val="2A4C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101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B0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3310128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修正が反映されない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621024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C4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「更新」ボタンを押したか、ブラウザの再読み込み（更新）をお試しください。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14400" y="4151376"/>
            <a:ext cx="10360152" cy="786384"/>
          </a:xfrm>
          <a:prstGeom prst="roundRect">
            <a:avLst>
              <a:gd name="adj" fmla="val 6977"/>
            </a:avLst>
          </a:prstGeom>
          <a:solidFill>
            <a:srgbClr val="17356F"/>
          </a:solidFill>
          <a:ln w="12700">
            <a:solidFill>
              <a:srgbClr val="2A4C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42428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B0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242816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フォームのメールが届かない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4553712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C4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迷惑メールフォルダをご確認のうえ、フォームの「メール」設定をご確認ください。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5394960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0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その他ご不明な点は、サイト制作担当までお問い合わせください。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14400" y="577900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8CB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つなぐ依頼ページ 運用マニュアル ／ 版数 1.0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つなぐ依頼ページ 運用マニュアル</dc:title>
  <dc:subject>PptxGenJS Presentation</dc:subject>
  <dc:creator>つなぐ</dc:creator>
  <cp:lastModifiedBy>つなぐ</cp:lastModifiedBy>
  <cp:revision>1</cp:revision>
  <dcterms:created xsi:type="dcterms:W3CDTF">2026-08-06T00:11:48Z</dcterms:created>
  <dcterms:modified xsi:type="dcterms:W3CDTF">2026-08-06T00:11:48Z</dcterms:modified>
</cp:coreProperties>
</file>